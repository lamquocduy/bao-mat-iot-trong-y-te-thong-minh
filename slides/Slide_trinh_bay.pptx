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0" userDrawn="1">
          <p15:clr>
            <a:srgbClr val="A4A3A4"/>
          </p15:clr>
        </p15:guide>
        <p15:guide id="2" pos="3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67FE6"/>
    <a:srgbClr val="5FDAE5"/>
    <a:srgbClr val="4E42E6"/>
    <a:srgbClr val="60DFE5"/>
    <a:srgbClr val="5260E6"/>
    <a:srgbClr val="5FD9E5"/>
    <a:srgbClr val="599CE6"/>
    <a:srgbClr val="504EE6"/>
    <a:srgbClr val="60D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450"/>
        <p:guide pos="389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80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image" Target="../media/image11.png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3" name="Picture 22" descr="Asset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9395" y="-2433320"/>
            <a:ext cx="3841750" cy="4842510"/>
          </a:xfrm>
          <a:prstGeom prst="rect">
            <a:avLst/>
          </a:prstGeom>
        </p:spPr>
      </p:pic>
      <p:pic>
        <p:nvPicPr>
          <p:cNvPr id="24" name="Picture 23" descr="Asse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10" y="4444365"/>
            <a:ext cx="6171565" cy="3826510"/>
          </a:xfrm>
          <a:prstGeom prst="rect">
            <a:avLst/>
          </a:prstGeom>
        </p:spPr>
      </p:pic>
      <p:pic>
        <p:nvPicPr>
          <p:cNvPr id="25" name="Picture 24" descr="Asse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05" y="-1806575"/>
            <a:ext cx="5803900" cy="685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959610" y="2944495"/>
            <a:ext cx="7376160" cy="964565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032000" y="2921635"/>
            <a:ext cx="7720965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r>
              <a:rPr lang="en-US" altLang="en-US" sz="3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</a:rPr>
              <a:t>BẢO MẬT IOT</a:t>
            </a:r>
            <a:endParaRPr lang="en-US" altLang="en-US" sz="3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</a:endParaRPr>
          </a:p>
          <a:p>
            <a:r>
              <a:rPr lang="en-US" altLang="en-US" sz="3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</a:rPr>
              <a:t>TRONG Y TẾ THÔNG MINH</a:t>
            </a:r>
            <a:endParaRPr lang="en-US" altLang="en-US" sz="3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522085" y="685800"/>
            <a:ext cx="4859655" cy="73660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982710" y="1035050"/>
            <a:ext cx="2258695" cy="320675"/>
          </a:xfrm>
          <a:prstGeom prst="rect">
            <a:avLst/>
          </a:prstGeom>
          <a:solidFill>
            <a:srgbClr val="5BB6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3535045" y="717550"/>
            <a:ext cx="7720965" cy="32194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r"/>
            <a:r>
              <a:rPr lang="vi-VN" altLang="en-US" sz="15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</a:rPr>
              <a:t>TRƯỜNG ĐẠI HỌC VĂN HIẾN</a:t>
            </a:r>
            <a:endParaRPr lang="vi-VN" altLang="en-US" sz="15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7192010" y="1047750"/>
            <a:ext cx="406400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</a:rPr>
              <a:t>Khoa Công Nghệ Thông Tin</a:t>
            </a:r>
            <a:endParaRPr lang="vi-VN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39165" y="5627370"/>
            <a:ext cx="2560320" cy="223520"/>
          </a:xfrm>
          <a:prstGeom prst="rect">
            <a:avLst/>
          </a:prstGeom>
          <a:solidFill>
            <a:srgbClr val="5898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845820" y="5833745"/>
            <a:ext cx="2324735" cy="265430"/>
          </a:xfrm>
          <a:prstGeom prst="rect">
            <a:avLst/>
          </a:prstGeom>
          <a:solidFill>
            <a:srgbClr val="63F2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8416290" y="5847715"/>
            <a:ext cx="2964815" cy="223520"/>
          </a:xfrm>
          <a:prstGeom prst="rect">
            <a:avLst/>
          </a:prstGeom>
          <a:solidFill>
            <a:srgbClr val="578E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8907145" y="5601970"/>
            <a:ext cx="2324735" cy="265430"/>
          </a:xfrm>
          <a:prstGeom prst="rect">
            <a:avLst/>
          </a:prstGeom>
          <a:solidFill>
            <a:srgbClr val="62EA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Text Box 34"/>
          <p:cNvSpPr txBox="1"/>
          <p:nvPr/>
        </p:nvSpPr>
        <p:spPr>
          <a:xfrm>
            <a:off x="935355" y="5588000"/>
            <a:ext cx="251523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Học phần - 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Bảo mật trong IoT</a:t>
            </a:r>
            <a:endParaRPr lang="vi-VN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35355" y="5818505"/>
            <a:ext cx="23063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Giảng viên - 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Hồ Nhựt Minh</a:t>
            </a:r>
            <a:endParaRPr lang="vi-VN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9004300" y="5588000"/>
            <a:ext cx="225171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r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Sinh viên - Lâm Quốc 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Duy</a:t>
            </a:r>
            <a:endParaRPr lang="vi-VN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5482590" y="5588000"/>
            <a:ext cx="124396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Đề tài - 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09</a:t>
            </a:r>
            <a:endParaRPr lang="vi-VN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8758555" y="5818505"/>
            <a:ext cx="249745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r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Mã số sinh viên - 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231A010064</a:t>
            </a:r>
            <a:endParaRPr lang="vi-VN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 flipH="1" flipV="1">
            <a:off x="0" y="0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7" name="Picture 6" descr="Asset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0405" y="1555433"/>
            <a:ext cx="3171190" cy="374713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60440" y="553085"/>
            <a:ext cx="4860925" cy="577215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0225" y="5750560"/>
            <a:ext cx="5704205" cy="551815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61440" y="5852160"/>
            <a:ext cx="3013710" cy="368935"/>
          </a:xfrm>
          <a:prstGeom prst="rect">
            <a:avLst/>
          </a:prstGeom>
          <a:solidFill>
            <a:srgbClr val="567F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610225" y="656590"/>
            <a:ext cx="2286000" cy="369570"/>
          </a:xfrm>
          <a:prstGeom prst="rect">
            <a:avLst/>
          </a:prstGeom>
          <a:solidFill>
            <a:srgbClr val="5FD6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96010" y="5829618"/>
            <a:ext cx="508000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r">
              <a:buClrTx/>
              <a:buSzTx/>
              <a:buFontTx/>
            </a:pP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Vấn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Đ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ề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B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ảo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M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ật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iện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ữu</a:t>
            </a:r>
            <a:endParaRPr lang="vi-VN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096000" y="628968"/>
            <a:ext cx="508000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Mục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iêu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C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ủa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Đ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ề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ài</a:t>
            </a:r>
            <a:endParaRPr lang="vi-VN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40385" y="2913380"/>
            <a:ext cx="3021330" cy="586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BLE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→ "Just Works"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748665" y="3885565"/>
            <a:ext cx="2813050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Truyền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trên Internet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 → HTTP/MQTT không mã hóa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263650" y="2030730"/>
            <a:ext cx="2891790" cy="497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Hệ thống y tế IoT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→ Thiết lập mặc định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7662545" y="5334635"/>
            <a:ext cx="354774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Thực nghiệm và Đánh giá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→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tấn công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và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kiểm chứng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hiệu quả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phòng thủ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8122920" y="1574165"/>
            <a:ext cx="2824480" cy="709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/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Phân loại tài sản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algn="just"/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→ T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hành phần hệ sinh thái,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algn="just"/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 dữ liệu nhạy cảm.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8520430" y="2585720"/>
            <a:ext cx="3034030" cy="9969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Xây dựng mô hình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→ Mô phỏng Thiết bị đeo,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 Mobile App, Cloud Server, 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 Dashboard.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8244205" y="3858895"/>
            <a:ext cx="3587115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Thực thi bảo mật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→ Mã hóa AES-CCM (cho BLE),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 xác thực toàn vẹn HMAC-SHA256 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 (cho Internet), phân quyền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   truy cập với 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JWT.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03" name="Text Box 102"/>
          <p:cNvSpPr txBox="1"/>
          <p:nvPr/>
        </p:nvSpPr>
        <p:spPr>
          <a:xfrm>
            <a:off x="154940" y="149225"/>
            <a:ext cx="40068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</a:t>
            </a:r>
            <a:r>
              <a:rPr lang="en-US" altLang="vi-VN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2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| 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Vấn </a:t>
            </a:r>
            <a:r>
              <a:rPr lang="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ề bảo mật và Mục tiêu</a:t>
            </a:r>
            <a:endParaRPr lang="en-US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cxnSp>
        <p:nvCxnSpPr>
          <p:cNvPr id="6" name="Curved Connector 5"/>
          <p:cNvCxnSpPr/>
          <p:nvPr/>
        </p:nvCxnSpPr>
        <p:spPr>
          <a:xfrm>
            <a:off x="-866140" y="312420"/>
            <a:ext cx="2025650" cy="1851660"/>
          </a:xfrm>
          <a:prstGeom prst="curvedConnector3">
            <a:avLst>
              <a:gd name="adj1" fmla="val 3652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flipV="1">
            <a:off x="-888365" y="4036060"/>
            <a:ext cx="1508125" cy="1442720"/>
          </a:xfrm>
          <a:prstGeom prst="curvedConnector3">
            <a:avLst>
              <a:gd name="adj1" fmla="val 50063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-847725" y="3078480"/>
            <a:ext cx="1259205" cy="0"/>
          </a:xfrm>
          <a:prstGeom prst="line">
            <a:avLst/>
          </a:prstGeom>
          <a:ln w="15875">
            <a:solidFill>
              <a:schemeClr val="bg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Curved Connector 17"/>
          <p:cNvCxnSpPr/>
          <p:nvPr/>
        </p:nvCxnSpPr>
        <p:spPr>
          <a:xfrm>
            <a:off x="3751580" y="2442210"/>
            <a:ext cx="586740" cy="541655"/>
          </a:xfrm>
          <a:prstGeom prst="curvedConnector3">
            <a:avLst>
              <a:gd name="adj1" fmla="val 5010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Curved Connector 18"/>
          <p:cNvCxnSpPr/>
          <p:nvPr/>
        </p:nvCxnSpPr>
        <p:spPr>
          <a:xfrm flipV="1">
            <a:off x="3606800" y="3745865"/>
            <a:ext cx="762000" cy="563880"/>
          </a:xfrm>
          <a:prstGeom prst="curvedConnector3">
            <a:avLst>
              <a:gd name="adj1" fmla="val 50083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341880" y="3334385"/>
            <a:ext cx="19431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Curved Connector 39"/>
          <p:cNvCxnSpPr/>
          <p:nvPr/>
        </p:nvCxnSpPr>
        <p:spPr>
          <a:xfrm flipV="1">
            <a:off x="6362065" y="1741170"/>
            <a:ext cx="1684020" cy="876935"/>
          </a:xfrm>
          <a:prstGeom prst="curvedConnector3">
            <a:avLst>
              <a:gd name="adj1" fmla="val 5003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Curved Connector 41"/>
          <p:cNvCxnSpPr/>
          <p:nvPr/>
        </p:nvCxnSpPr>
        <p:spPr>
          <a:xfrm flipV="1">
            <a:off x="6052185" y="2754630"/>
            <a:ext cx="2374900" cy="406400"/>
          </a:xfrm>
          <a:prstGeom prst="curvedConnector3">
            <a:avLst>
              <a:gd name="adj1" fmla="val 50027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Curved Connector 42"/>
          <p:cNvCxnSpPr/>
          <p:nvPr/>
        </p:nvCxnSpPr>
        <p:spPr>
          <a:xfrm>
            <a:off x="6260465" y="3578225"/>
            <a:ext cx="1882775" cy="444500"/>
          </a:xfrm>
          <a:prstGeom prst="curvedConnector3">
            <a:avLst>
              <a:gd name="adj1" fmla="val 50017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Curved Connector 43"/>
          <p:cNvCxnSpPr/>
          <p:nvPr/>
        </p:nvCxnSpPr>
        <p:spPr>
          <a:xfrm>
            <a:off x="6280785" y="4192905"/>
            <a:ext cx="1325880" cy="1303020"/>
          </a:xfrm>
          <a:prstGeom prst="curvedConnector3">
            <a:avLst>
              <a:gd name="adj1" fmla="val 50048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0DFE5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-317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94" name="Straight Arrow Connector 93"/>
          <p:cNvCxnSpPr/>
          <p:nvPr/>
        </p:nvCxnSpPr>
        <p:spPr>
          <a:xfrm flipV="1">
            <a:off x="6099493" y="2399030"/>
            <a:ext cx="0" cy="396240"/>
          </a:xfrm>
          <a:prstGeom prst="straightConnector1">
            <a:avLst/>
          </a:prstGeom>
          <a:ln w="12700" cap="flat" cmpd="sng" algn="ctr">
            <a:solidFill>
              <a:schemeClr val="bg1"/>
            </a:solidFill>
            <a:prstDash val="solid"/>
            <a:miter lim="800000"/>
            <a:headEnd type="none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3" name="Group 132"/>
          <p:cNvGrpSpPr/>
          <p:nvPr/>
        </p:nvGrpSpPr>
        <p:grpSpPr>
          <a:xfrm>
            <a:off x="5526405" y="2508885"/>
            <a:ext cx="1179830" cy="1129030"/>
            <a:chOff x="9156" y="3265"/>
            <a:chExt cx="2923" cy="2796"/>
          </a:xfrm>
        </p:grpSpPr>
        <p:grpSp>
          <p:nvGrpSpPr>
            <p:cNvPr id="107" name="Group 106"/>
            <p:cNvGrpSpPr/>
            <p:nvPr/>
          </p:nvGrpSpPr>
          <p:grpSpPr>
            <a:xfrm rot="19380000">
              <a:off x="9301" y="3283"/>
              <a:ext cx="2428" cy="2740"/>
              <a:chOff x="8162" y="4086"/>
              <a:chExt cx="2891" cy="3262"/>
            </a:xfrm>
            <a:solidFill>
              <a:schemeClr val="bg1">
                <a:alpha val="15000"/>
              </a:schemeClr>
            </a:solidFill>
          </p:grpSpPr>
          <p:sp>
            <p:nvSpPr>
              <p:cNvPr id="108" name="Diamond 107"/>
              <p:cNvSpPr/>
              <p:nvPr/>
            </p:nvSpPr>
            <p:spPr>
              <a:xfrm>
                <a:off x="8162" y="4086"/>
                <a:ext cx="2891" cy="1618"/>
              </a:xfrm>
              <a:prstGeom prst="diamon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09" name="Parallelogram 108"/>
              <p:cNvSpPr/>
              <p:nvPr/>
            </p:nvSpPr>
            <p:spPr>
              <a:xfrm rot="5400000">
                <a:off x="7662" y="5395"/>
                <a:ext cx="2455" cy="1452"/>
              </a:xfrm>
              <a:prstGeom prst="parallelogram">
                <a:avLst>
                  <a:gd name="adj" fmla="val 5591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>
                  <a:sym typeface="+mn-ea"/>
                </a:endParaRPr>
              </a:p>
            </p:txBody>
          </p:sp>
          <p:sp>
            <p:nvSpPr>
              <p:cNvPr id="110" name="Parallelogram 109"/>
              <p:cNvSpPr/>
              <p:nvPr/>
            </p:nvSpPr>
            <p:spPr>
              <a:xfrm rot="16200000" flipH="1">
                <a:off x="9107" y="5402"/>
                <a:ext cx="2455" cy="1438"/>
              </a:xfrm>
              <a:prstGeom prst="parallelogram">
                <a:avLst>
                  <a:gd name="adj" fmla="val 5591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>
                  <a:sym typeface="+mn-ea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 rot="19380000">
              <a:off x="9156" y="3265"/>
              <a:ext cx="1470" cy="1659"/>
              <a:chOff x="8162" y="4086"/>
              <a:chExt cx="2891" cy="3262"/>
            </a:xfrm>
            <a:solidFill>
              <a:schemeClr val="bg1">
                <a:alpha val="50000"/>
              </a:schemeClr>
            </a:solidFill>
          </p:grpSpPr>
          <p:sp>
            <p:nvSpPr>
              <p:cNvPr id="112" name="Diamond 111"/>
              <p:cNvSpPr/>
              <p:nvPr/>
            </p:nvSpPr>
            <p:spPr>
              <a:xfrm>
                <a:off x="8162" y="4086"/>
                <a:ext cx="2891" cy="1618"/>
              </a:xfrm>
              <a:prstGeom prst="diamon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13" name="Parallelogram 112"/>
              <p:cNvSpPr/>
              <p:nvPr/>
            </p:nvSpPr>
            <p:spPr>
              <a:xfrm rot="5400000">
                <a:off x="7662" y="5395"/>
                <a:ext cx="2455" cy="1452"/>
              </a:xfrm>
              <a:prstGeom prst="parallelogram">
                <a:avLst>
                  <a:gd name="adj" fmla="val 5591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>
                  <a:sym typeface="+mn-ea"/>
                </a:endParaRPr>
              </a:p>
            </p:txBody>
          </p:sp>
          <p:sp>
            <p:nvSpPr>
              <p:cNvPr id="114" name="Parallelogram 113"/>
              <p:cNvSpPr/>
              <p:nvPr/>
            </p:nvSpPr>
            <p:spPr>
              <a:xfrm rot="16200000" flipH="1">
                <a:off x="9107" y="5402"/>
                <a:ext cx="2455" cy="1438"/>
              </a:xfrm>
              <a:prstGeom prst="parallelogram">
                <a:avLst>
                  <a:gd name="adj" fmla="val 5591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>
                  <a:sym typeface="+mn-ea"/>
                </a:endParaRPr>
              </a:p>
            </p:txBody>
          </p:sp>
        </p:grpSp>
        <p:grpSp>
          <p:nvGrpSpPr>
            <p:cNvPr id="115" name="Group 114"/>
            <p:cNvGrpSpPr/>
            <p:nvPr/>
          </p:nvGrpSpPr>
          <p:grpSpPr>
            <a:xfrm rot="19380000">
              <a:off x="10983" y="4825"/>
              <a:ext cx="1096" cy="1237"/>
              <a:chOff x="8162" y="4086"/>
              <a:chExt cx="2891" cy="3262"/>
            </a:xfrm>
            <a:solidFill>
              <a:schemeClr val="bg1">
                <a:alpha val="35000"/>
              </a:schemeClr>
            </a:solidFill>
          </p:grpSpPr>
          <p:sp>
            <p:nvSpPr>
              <p:cNvPr id="116" name="Diamond 115"/>
              <p:cNvSpPr/>
              <p:nvPr/>
            </p:nvSpPr>
            <p:spPr>
              <a:xfrm>
                <a:off x="8162" y="4086"/>
                <a:ext cx="2891" cy="1618"/>
              </a:xfrm>
              <a:prstGeom prst="diamon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17" name="Parallelogram 116"/>
              <p:cNvSpPr/>
              <p:nvPr/>
            </p:nvSpPr>
            <p:spPr>
              <a:xfrm rot="5400000">
                <a:off x="7662" y="5395"/>
                <a:ext cx="2455" cy="1452"/>
              </a:xfrm>
              <a:prstGeom prst="parallelogram">
                <a:avLst>
                  <a:gd name="adj" fmla="val 5591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>
                  <a:sym typeface="+mn-ea"/>
                </a:endParaRPr>
              </a:p>
            </p:txBody>
          </p:sp>
          <p:sp>
            <p:nvSpPr>
              <p:cNvPr id="118" name="Parallelogram 117"/>
              <p:cNvSpPr/>
              <p:nvPr/>
            </p:nvSpPr>
            <p:spPr>
              <a:xfrm rot="16200000" flipH="1">
                <a:off x="9107" y="5402"/>
                <a:ext cx="2455" cy="1438"/>
              </a:xfrm>
              <a:prstGeom prst="parallelogram">
                <a:avLst>
                  <a:gd name="adj" fmla="val 5591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>
                  <a:sym typeface="+mn-ea"/>
                </a:endParaRPr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 rot="19380000">
              <a:off x="9535" y="3547"/>
              <a:ext cx="1959" cy="2211"/>
              <a:chOff x="8162" y="4086"/>
              <a:chExt cx="2891" cy="3262"/>
            </a:xfrm>
          </p:grpSpPr>
          <p:sp>
            <p:nvSpPr>
              <p:cNvPr id="90" name="Diamond 89"/>
              <p:cNvSpPr/>
              <p:nvPr/>
            </p:nvSpPr>
            <p:spPr>
              <a:xfrm>
                <a:off x="8162" y="4086"/>
                <a:ext cx="2891" cy="1618"/>
              </a:xfrm>
              <a:prstGeom prst="diamond">
                <a:avLst/>
              </a:prstGeom>
              <a:gradFill>
                <a:gsLst>
                  <a:gs pos="0">
                    <a:srgbClr val="60DFE5"/>
                  </a:gs>
                  <a:gs pos="100000">
                    <a:srgbClr val="5154E6"/>
                  </a:gs>
                </a:gsLst>
                <a:lin ang="1968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92" name="Parallelogram 91"/>
              <p:cNvSpPr/>
              <p:nvPr/>
            </p:nvSpPr>
            <p:spPr>
              <a:xfrm rot="5400000">
                <a:off x="7662" y="5395"/>
                <a:ext cx="2455" cy="1452"/>
              </a:xfrm>
              <a:prstGeom prst="parallelogram">
                <a:avLst>
                  <a:gd name="adj" fmla="val 55910"/>
                </a:avLst>
              </a:prstGeom>
              <a:gradFill>
                <a:gsLst>
                  <a:gs pos="0">
                    <a:srgbClr val="60DFE5"/>
                  </a:gs>
                  <a:gs pos="100000">
                    <a:srgbClr val="5154E6"/>
                  </a:gs>
                </a:gsLst>
                <a:lin ang="1968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>
                  <a:sym typeface="+mn-ea"/>
                </a:endParaRPr>
              </a:p>
            </p:txBody>
          </p:sp>
          <p:sp>
            <p:nvSpPr>
              <p:cNvPr id="93" name="Parallelogram 92"/>
              <p:cNvSpPr/>
              <p:nvPr/>
            </p:nvSpPr>
            <p:spPr>
              <a:xfrm rot="16200000" flipH="1">
                <a:off x="9107" y="5402"/>
                <a:ext cx="2455" cy="1438"/>
              </a:xfrm>
              <a:prstGeom prst="parallelogram">
                <a:avLst>
                  <a:gd name="adj" fmla="val 55910"/>
                </a:avLst>
              </a:prstGeom>
              <a:gradFill>
                <a:gsLst>
                  <a:gs pos="0">
                    <a:srgbClr val="60DFE5"/>
                  </a:gs>
                  <a:gs pos="100000">
                    <a:srgbClr val="5154E6"/>
                  </a:gs>
                </a:gsLst>
                <a:lin ang="1968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>
                  <a:sym typeface="+mn-ea"/>
                </a:endParaRPr>
              </a:p>
            </p:txBody>
          </p:sp>
        </p:grpSp>
      </p:grpSp>
      <p:sp>
        <p:nvSpPr>
          <p:cNvPr id="27" name="Text Box 26"/>
          <p:cNvSpPr txBox="1"/>
          <p:nvPr/>
        </p:nvSpPr>
        <p:spPr>
          <a:xfrm>
            <a:off x="1310640" y="3706495"/>
            <a:ext cx="1487805" cy="3670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Python 3.14.0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9394190" y="3691255"/>
            <a:ext cx="2154555" cy="3873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cryptography 3.24.0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2890203" y="1958340"/>
            <a:ext cx="6412230" cy="482600"/>
            <a:chOff x="4551" y="3979"/>
            <a:chExt cx="10098" cy="760"/>
          </a:xfrm>
        </p:grpSpPr>
        <p:sp>
          <p:nvSpPr>
            <p:cNvPr id="32" name="Rectangle 31"/>
            <p:cNvSpPr/>
            <p:nvPr/>
          </p:nvSpPr>
          <p:spPr>
            <a:xfrm>
              <a:off x="4723" y="4079"/>
              <a:ext cx="9754" cy="492"/>
            </a:xfrm>
            <a:prstGeom prst="rect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4551" y="3979"/>
              <a:ext cx="10098" cy="76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vi-VN" altLang="en-US" sz="15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5 Trụ Cột Bảo Mật Thực Thi Trong Dự Án</a:t>
              </a:r>
              <a:endParaRPr lang="vi-VN" altLang="en-US" sz="15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296920" y="4143216"/>
            <a:ext cx="5598160" cy="321945"/>
            <a:chOff x="4937" y="5677"/>
            <a:chExt cx="8816" cy="507"/>
          </a:xfrm>
        </p:grpSpPr>
        <p:sp>
          <p:nvSpPr>
            <p:cNvPr id="33" name="Rectangle 32"/>
            <p:cNvSpPr/>
            <p:nvPr/>
          </p:nvSpPr>
          <p:spPr>
            <a:xfrm>
              <a:off x="5079" y="5685"/>
              <a:ext cx="8532" cy="492"/>
            </a:xfrm>
            <a:prstGeom prst="rect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4937" y="5677"/>
              <a:ext cx="8816" cy="5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vi-VN" altLang="en-US" sz="15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Công Nghệ Và Môi Trường Mô Phỏn</a:t>
              </a:r>
              <a:r>
                <a:rPr lang="en-US" altLang="vi-VN" sz="15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g</a:t>
              </a:r>
              <a:endParaRPr lang="en-US" altLang="vi-VN" sz="15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3498215" y="4935220"/>
            <a:ext cx="5196840" cy="476250"/>
            <a:chOff x="5509" y="7655"/>
            <a:chExt cx="8184" cy="750"/>
          </a:xfrm>
        </p:grpSpPr>
        <p:sp>
          <p:nvSpPr>
            <p:cNvPr id="34" name="Rectangle 33"/>
            <p:cNvSpPr/>
            <p:nvPr/>
          </p:nvSpPr>
          <p:spPr>
            <a:xfrm>
              <a:off x="5698" y="7740"/>
              <a:ext cx="7806" cy="506"/>
            </a:xfrm>
            <a:prstGeom prst="rect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5509" y="7655"/>
              <a:ext cx="8184" cy="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p>
              <a:pPr algn="ctr"/>
              <a:r>
                <a:rPr lang="vi-VN" altLang="en-US" sz="15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Các Chuẩn Và Nguồn Tham Chiếu</a:t>
              </a:r>
              <a:endParaRPr lang="vi-VN" altLang="en-US" sz="15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</p:grpSp>
      <p:sp>
        <p:nvSpPr>
          <p:cNvPr id="46" name="Text Box 45"/>
          <p:cNvSpPr txBox="1"/>
          <p:nvPr/>
        </p:nvSpPr>
        <p:spPr>
          <a:xfrm>
            <a:off x="561975" y="1372235"/>
            <a:ext cx="2438400" cy="586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Mã hóa dữ liệu truyền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(AES-CCM)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2890520" y="1061720"/>
            <a:ext cx="2096135" cy="586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Xác thực toàn vẹn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(HMAC-SHA256)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7205980" y="1061720"/>
            <a:ext cx="2096135" cy="586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Kiểm soát truy cập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(JWT)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5048250" y="751205"/>
            <a:ext cx="2096135" cy="572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Mã hóa dữ liệu tĩnh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(AES-GCM )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55" name="Text Box 54"/>
          <p:cNvSpPr txBox="1"/>
          <p:nvPr/>
        </p:nvSpPr>
        <p:spPr>
          <a:xfrm>
            <a:off x="9363710" y="1372235"/>
            <a:ext cx="2096135" cy="586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Nhật ký giám sát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(Audit Log)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03" name="Text Box 102"/>
          <p:cNvSpPr txBox="1"/>
          <p:nvPr/>
        </p:nvSpPr>
        <p:spPr>
          <a:xfrm>
            <a:off x="154940" y="149225"/>
            <a:ext cx="40068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</a:t>
            </a:r>
            <a:r>
              <a:rPr lang="en-US" altLang="vi-VN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3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| 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Kiến thức nền và Công cụ sử dụng</a:t>
            </a:r>
            <a:endParaRPr lang="en-US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312545" y="5863590"/>
            <a:ext cx="1089025" cy="282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Mbed TLS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201670" y="6056630"/>
            <a:ext cx="3250565" cy="322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RFC 2104 (HMAC) &amp;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RFC 7519 (JWT)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7252335" y="6056630"/>
            <a:ext cx="117602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OWASP ISVS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21" name="Text Box 120"/>
          <p:cNvSpPr txBox="1"/>
          <p:nvPr/>
        </p:nvSpPr>
        <p:spPr>
          <a:xfrm>
            <a:off x="9228455" y="5863590"/>
            <a:ext cx="1651635" cy="322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NIST SP 800-38D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cxnSp>
        <p:nvCxnSpPr>
          <p:cNvPr id="124" name="Curved Connector 123"/>
          <p:cNvCxnSpPr>
            <a:stCxn id="26" idx="3"/>
            <a:endCxn id="55" idx="2"/>
          </p:cNvCxnSpPr>
          <p:nvPr/>
        </p:nvCxnSpPr>
        <p:spPr>
          <a:xfrm flipV="1">
            <a:off x="9302750" y="1958340"/>
            <a:ext cx="1109345" cy="241300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26" idx="0"/>
            <a:endCxn id="53" idx="2"/>
          </p:cNvCxnSpPr>
          <p:nvPr/>
        </p:nvCxnSpPr>
        <p:spPr>
          <a:xfrm flipV="1">
            <a:off x="6096635" y="1323975"/>
            <a:ext cx="0" cy="6343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Curved Connector 127"/>
          <p:cNvCxnSpPr>
            <a:stCxn id="26" idx="0"/>
            <a:endCxn id="51" idx="2"/>
          </p:cNvCxnSpPr>
          <p:nvPr/>
        </p:nvCxnSpPr>
        <p:spPr>
          <a:xfrm rot="16200000">
            <a:off x="7019925" y="723900"/>
            <a:ext cx="310515" cy="215773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Curved Connector 129"/>
          <p:cNvCxnSpPr>
            <a:stCxn id="48" idx="2"/>
            <a:endCxn id="26" idx="0"/>
          </p:cNvCxnSpPr>
          <p:nvPr/>
        </p:nvCxnSpPr>
        <p:spPr>
          <a:xfrm rot="5400000" flipV="1">
            <a:off x="4862830" y="723900"/>
            <a:ext cx="310515" cy="215773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Curved Connector 130"/>
          <p:cNvCxnSpPr>
            <a:stCxn id="26" idx="1"/>
            <a:endCxn id="46" idx="2"/>
          </p:cNvCxnSpPr>
          <p:nvPr/>
        </p:nvCxnSpPr>
        <p:spPr>
          <a:xfrm rot="10800000">
            <a:off x="1780540" y="1958340"/>
            <a:ext cx="1109345" cy="241300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Curved Connector 131"/>
          <p:cNvCxnSpPr>
            <a:stCxn id="25" idx="3"/>
            <a:endCxn id="28" idx="1"/>
          </p:cNvCxnSpPr>
          <p:nvPr/>
        </p:nvCxnSpPr>
        <p:spPr>
          <a:xfrm flipV="1">
            <a:off x="8895080" y="3884930"/>
            <a:ext cx="499110" cy="41910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Curved Connector 133"/>
          <p:cNvCxnSpPr>
            <a:stCxn id="25" idx="1"/>
            <a:endCxn id="27" idx="3"/>
          </p:cNvCxnSpPr>
          <p:nvPr/>
        </p:nvCxnSpPr>
        <p:spPr>
          <a:xfrm rot="10800000">
            <a:off x="2797810" y="3890010"/>
            <a:ext cx="498475" cy="414020"/>
          </a:xfrm>
          <a:prstGeom prst="curvedConnector3">
            <a:avLst>
              <a:gd name="adj1" fmla="val 49936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Curved Connector 134"/>
          <p:cNvCxnSpPr>
            <a:stCxn id="24" idx="2"/>
            <a:endCxn id="17" idx="0"/>
          </p:cNvCxnSpPr>
          <p:nvPr/>
        </p:nvCxnSpPr>
        <p:spPr>
          <a:xfrm rot="5400000">
            <a:off x="3750945" y="3517900"/>
            <a:ext cx="452120" cy="423926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Curved Connector 136"/>
          <p:cNvCxnSpPr>
            <a:stCxn id="24" idx="2"/>
            <a:endCxn id="19" idx="0"/>
          </p:cNvCxnSpPr>
          <p:nvPr/>
        </p:nvCxnSpPr>
        <p:spPr>
          <a:xfrm rot="5400000">
            <a:off x="5139373" y="5099368"/>
            <a:ext cx="645160" cy="1269365"/>
          </a:xfrm>
          <a:prstGeom prst="curvedConnector3">
            <a:avLst>
              <a:gd name="adj1" fmla="val 4995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9" name="Curved Connector 138"/>
          <p:cNvCxnSpPr>
            <a:stCxn id="20" idx="0"/>
            <a:endCxn id="24" idx="2"/>
          </p:cNvCxnSpPr>
          <p:nvPr/>
        </p:nvCxnSpPr>
        <p:spPr>
          <a:xfrm rot="16200000" flipV="1">
            <a:off x="6645910" y="4862195"/>
            <a:ext cx="645160" cy="174371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1" name="Curved Connector 140"/>
          <p:cNvCxnSpPr>
            <a:stCxn id="121" idx="0"/>
            <a:endCxn id="24" idx="2"/>
          </p:cNvCxnSpPr>
          <p:nvPr/>
        </p:nvCxnSpPr>
        <p:spPr>
          <a:xfrm rot="16200000" flipV="1">
            <a:off x="7849553" y="3658553"/>
            <a:ext cx="452120" cy="3957955"/>
          </a:xfrm>
          <a:prstGeom prst="curvedConnector3">
            <a:avLst>
              <a:gd name="adj1" fmla="val 50070"/>
            </a:avLst>
          </a:prstGeom>
          <a:ln>
            <a:solidFill>
              <a:schemeClr val="bg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-317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-78740" y="746443"/>
            <a:ext cx="12331065" cy="5365115"/>
            <a:chOff x="-124" y="550"/>
            <a:chExt cx="19419" cy="8449"/>
          </a:xfrm>
        </p:grpSpPr>
        <p:pic>
          <p:nvPicPr>
            <p:cNvPr id="4" name="Picture 3" descr="Asset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744" y="4871"/>
              <a:ext cx="3274" cy="4128"/>
            </a:xfrm>
            <a:prstGeom prst="rect">
              <a:avLst/>
            </a:prstGeom>
          </p:spPr>
        </p:pic>
        <p:pic>
          <p:nvPicPr>
            <p:cNvPr id="6" name="Picture 5" descr="Asset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5" y="5726"/>
              <a:ext cx="4956" cy="3073"/>
            </a:xfrm>
            <a:prstGeom prst="rect">
              <a:avLst/>
            </a:prstGeom>
          </p:spPr>
        </p:pic>
        <p:pic>
          <p:nvPicPr>
            <p:cNvPr id="7" name="Picture 6" descr="Asset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2" y="960"/>
              <a:ext cx="4033" cy="4766"/>
            </a:xfrm>
            <a:prstGeom prst="rect">
              <a:avLst/>
            </a:prstGeom>
          </p:spPr>
        </p:pic>
        <p:pic>
          <p:nvPicPr>
            <p:cNvPr id="8" name="Picture 7" descr="Asset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65" y="550"/>
              <a:ext cx="2718" cy="4896"/>
            </a:xfrm>
            <a:prstGeom prst="rect">
              <a:avLst/>
            </a:prstGeom>
          </p:spPr>
        </p:pic>
        <p:cxnSp>
          <p:nvCxnSpPr>
            <p:cNvPr id="20" name="Straight Connector 19"/>
            <p:cNvCxnSpPr/>
            <p:nvPr/>
          </p:nvCxnSpPr>
          <p:spPr>
            <a:xfrm>
              <a:off x="4570" y="5349"/>
              <a:ext cx="1144" cy="760"/>
            </a:xfrm>
            <a:prstGeom prst="line">
              <a:avLst/>
            </a:prstGeom>
            <a:ln w="63500" cap="rnd">
              <a:gradFill>
                <a:gsLst>
                  <a:gs pos="0">
                    <a:srgbClr val="60E0E5"/>
                  </a:gs>
                  <a:gs pos="100000">
                    <a:srgbClr val="4E3FE6"/>
                  </a:gs>
                </a:gsLst>
                <a:lin ang="13440000" scaled="1"/>
              </a:gradFill>
              <a:headEnd type="diamond"/>
              <a:tailEnd type="diamon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9096" y="5310"/>
              <a:ext cx="1616" cy="1120"/>
            </a:xfrm>
            <a:prstGeom prst="line">
              <a:avLst/>
            </a:prstGeom>
            <a:ln w="63500">
              <a:gradFill>
                <a:gsLst>
                  <a:gs pos="0">
                    <a:srgbClr val="60E0E5"/>
                  </a:gs>
                  <a:gs pos="100000">
                    <a:srgbClr val="4E3FE6"/>
                  </a:gs>
                </a:gsLst>
                <a:lin ang="13620000" scaled="1"/>
              </a:gradFill>
              <a:headEnd type="diamond"/>
              <a:tailEnd type="diamon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2728" y="5206"/>
              <a:ext cx="1680" cy="1192"/>
            </a:xfrm>
            <a:prstGeom prst="line">
              <a:avLst/>
            </a:prstGeom>
            <a:ln w="63500">
              <a:gradFill>
                <a:gsLst>
                  <a:gs pos="0">
                    <a:srgbClr val="60E0E5"/>
                  </a:gs>
                  <a:gs pos="100000">
                    <a:srgbClr val="4E3FE6"/>
                  </a:gs>
                </a:gsLst>
                <a:lin ang="11880000" scaled="1"/>
              </a:gradFill>
              <a:headEnd type="diamond"/>
              <a:tailEnd type="diamon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-124" y="1592"/>
              <a:ext cx="5938" cy="656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438" y="1599"/>
              <a:ext cx="5520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Vòng Đo Nhịp </a:t>
              </a: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Tim</a:t>
              </a:r>
              <a:endPara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881" y="7877"/>
              <a:ext cx="5346" cy="615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5803" y="7849"/>
              <a:ext cx="5532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Ứng Dụng Di </a:t>
              </a: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Động</a:t>
              </a:r>
              <a:endPara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096" y="990"/>
              <a:ext cx="5488" cy="64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9096" y="960"/>
              <a:ext cx="5532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Máy Chủ Đám </a:t>
              </a: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Mây</a:t>
              </a:r>
              <a:endPara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5065" y="5676"/>
              <a:ext cx="4230" cy="658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15065" y="5675"/>
              <a:ext cx="3684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Dashboard</a:t>
              </a:r>
              <a:endPara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  <p:sp>
          <p:nvSpPr>
            <p:cNvPr id="33" name="Text Box 32"/>
            <p:cNvSpPr txBox="1"/>
            <p:nvPr/>
          </p:nvSpPr>
          <p:spPr>
            <a:xfrm>
              <a:off x="1452" y="6976"/>
              <a:ext cx="3254" cy="58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lvl="0" algn="ctr">
                <a:buClrTx/>
                <a:buSzTx/>
                <a:buFontTx/>
              </a:pPr>
              <a:r>
                <a:rPr lang="vi-VN" altLang="en-US" sz="1500">
                  <a:solidFill>
                    <a:schemeClr val="bg1"/>
                  </a:solidFill>
                  <a:latin typeface="Inconsolata SemiCondensed Medium" panose="00000509000000000000" charset="0"/>
                  <a:cs typeface="Inconsolata SemiCondensed Medium" panose="00000509000000000000" charset="0"/>
                  <a:sym typeface="+mn-ea"/>
                </a:rPr>
                <a:t>BLE SC + AES-</a:t>
              </a:r>
              <a:r>
                <a:rPr lang="vi-VN" altLang="en-US" sz="1500">
                  <a:solidFill>
                    <a:schemeClr val="bg1"/>
                  </a:solidFill>
                  <a:latin typeface="Inconsolata SemiCondensed Medium" panose="00000509000000000000" charset="0"/>
                  <a:cs typeface="Inconsolata SemiCondensed Medium" panose="00000509000000000000" charset="0"/>
                  <a:sym typeface="+mn-ea"/>
                </a:rPr>
                <a:t>CCM</a:t>
              </a:r>
              <a:endPara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 flipH="1">
              <a:off x="3421" y="5916"/>
              <a:ext cx="1453" cy="984"/>
            </a:xfrm>
            <a:prstGeom prst="line">
              <a:avLst/>
            </a:prstGeom>
            <a:ln w="12700">
              <a:solidFill>
                <a:schemeClr val="bg1"/>
              </a:solidFill>
              <a:headEnd type="diamon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 flipV="1">
              <a:off x="8083" y="4649"/>
              <a:ext cx="1560" cy="1028"/>
            </a:xfrm>
            <a:prstGeom prst="line">
              <a:avLst/>
            </a:prstGeom>
            <a:ln>
              <a:solidFill>
                <a:schemeClr val="bg1"/>
              </a:solidFill>
              <a:headEnd type="diamon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Text Box 35"/>
            <p:cNvSpPr txBox="1"/>
            <p:nvPr/>
          </p:nvSpPr>
          <p:spPr>
            <a:xfrm>
              <a:off x="5479" y="4070"/>
              <a:ext cx="4666" cy="49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lvl="0" algn="ctr">
                <a:buClrTx/>
                <a:buSzTx/>
                <a:buFontTx/>
              </a:pPr>
              <a:r>
                <a:rPr lang="vi-VN" altLang="en-US" sz="1500">
                  <a:solidFill>
                    <a:schemeClr val="bg1"/>
                  </a:solidFill>
                  <a:latin typeface="Inconsolata SemiCondensed Medium" panose="00000509000000000000" charset="0"/>
                  <a:cs typeface="Inconsolata SemiCondensed Medium" panose="00000509000000000000" charset="0"/>
                  <a:sym typeface="+mn-ea"/>
                </a:rPr>
                <a:t>MQTTS/HTTPS (TLS 1.3) + </a:t>
              </a:r>
              <a:r>
                <a:rPr lang="vi-VN" altLang="en-US" sz="1500">
                  <a:solidFill>
                    <a:schemeClr val="bg1"/>
                  </a:solidFill>
                  <a:latin typeface="Inconsolata SemiCondensed Medium" panose="00000509000000000000" charset="0"/>
                  <a:cs typeface="Inconsolata SemiCondensed Medium" panose="00000509000000000000" charset="0"/>
                  <a:sym typeface="+mn-ea"/>
                </a:rPr>
                <a:t>HMAC</a:t>
              </a:r>
              <a:endPara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endParaRPr>
            </a:p>
          </p:txBody>
        </p:sp>
        <p:cxnSp>
          <p:nvCxnSpPr>
            <p:cNvPr id="37" name="Straight Connector 36"/>
            <p:cNvCxnSpPr/>
            <p:nvPr/>
          </p:nvCxnSpPr>
          <p:spPr>
            <a:xfrm flipV="1">
              <a:off x="13647" y="4309"/>
              <a:ext cx="1684" cy="1214"/>
            </a:xfrm>
            <a:prstGeom prst="line">
              <a:avLst/>
            </a:prstGeom>
            <a:ln>
              <a:solidFill>
                <a:schemeClr val="bg1"/>
              </a:solidFill>
              <a:headEnd type="diamon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8" name="Text Box 37"/>
            <p:cNvSpPr txBox="1"/>
            <p:nvPr/>
          </p:nvSpPr>
          <p:spPr>
            <a:xfrm>
              <a:off x="13647" y="3764"/>
              <a:ext cx="4666" cy="494"/>
            </a:xfrm>
            <a:prstGeom prst="rect">
              <a:avLst/>
            </a:prstGeom>
            <a:noFill/>
            <a:effectLst/>
          </p:spPr>
          <p:txBody>
            <a:bodyPr wrap="square" rtlCol="0" anchor="t">
              <a:noAutofit/>
            </a:bodyPr>
            <a:p>
              <a:pPr lvl="0" algn="ctr">
                <a:buClrTx/>
                <a:buSzTx/>
                <a:buFontTx/>
              </a:pPr>
              <a:r>
                <a:rPr lang="vi-VN" altLang="en-US" sz="1500">
                  <a:solidFill>
                    <a:schemeClr val="bg1"/>
                  </a:solidFill>
                  <a:effectLst/>
                  <a:latin typeface="Inconsolata SemiCondensed Medium" panose="00000509000000000000" charset="0"/>
                  <a:cs typeface="Inconsolata SemiCondensed Medium" panose="00000509000000000000" charset="0"/>
                  <a:sym typeface="+mn-ea"/>
                </a:rPr>
                <a:t>HTTPS + JWT + MFA + RBAC/ABAC</a:t>
              </a:r>
              <a:endParaRPr lang="vi-VN" altLang="en-US" sz="1500">
                <a:solidFill>
                  <a:schemeClr val="bg1"/>
                </a:solidFill>
                <a:effectLst/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endParaRPr>
            </a:p>
          </p:txBody>
        </p:sp>
      </p:grpSp>
      <p:sp>
        <p:nvSpPr>
          <p:cNvPr id="63" name="Text Box 62"/>
          <p:cNvSpPr txBox="1"/>
          <p:nvPr/>
        </p:nvSpPr>
        <p:spPr>
          <a:xfrm>
            <a:off x="154940" y="149225"/>
            <a:ext cx="40068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04 | 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Kiến trúc hệ thống và Luồng dữ liệu</a:t>
            </a:r>
            <a:endParaRPr lang="en-US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 flipH="1" flipV="1">
            <a:off x="0" y="-317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443355" y="2687955"/>
            <a:ext cx="4377690" cy="5149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297305" y="4585335"/>
            <a:ext cx="4523740" cy="5149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671830" y="2788603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mobile-app-user.py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71830" y="4685983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dashboard-docter.py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pic>
        <p:nvPicPr>
          <p:cNvPr id="9" name="Picture 8" descr="Asset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0511" y="4404360"/>
            <a:ext cx="695325" cy="876935"/>
          </a:xfrm>
          <a:prstGeom prst="rect">
            <a:avLst/>
          </a:prstGeom>
        </p:spPr>
      </p:pic>
      <p:pic>
        <p:nvPicPr>
          <p:cNvPr id="10" name="Picture 9" descr="Asset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414" y="2560955"/>
            <a:ext cx="1239520" cy="76898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63610" y="3171825"/>
            <a:ext cx="2475865" cy="5149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8181340" y="4773295"/>
            <a:ext cx="2251710" cy="5149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8181340" y="1570355"/>
            <a:ext cx="2622550" cy="5149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Text Box 36"/>
          <p:cNvSpPr txBox="1"/>
          <p:nvPr/>
        </p:nvSpPr>
        <p:spPr>
          <a:xfrm>
            <a:off x="8402955" y="1671003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Mã hóa dữ liệu truyền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8814435" y="3272473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Mã hóa dữ liệu t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ĩ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nh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8402955" y="4873943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Xác thực toàn vẹn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6783070" y="-201295"/>
            <a:ext cx="0" cy="3613150"/>
          </a:xfrm>
          <a:prstGeom prst="line">
            <a:avLst/>
          </a:prstGeom>
          <a:ln w="63500">
            <a:gradFill>
              <a:gsLst>
                <a:gs pos="0">
                  <a:srgbClr val="60E0E5"/>
                </a:gs>
                <a:gs pos="100000">
                  <a:srgbClr val="4E3FE6"/>
                </a:gs>
              </a:gsLst>
              <a:lin ang="16200000" scaled="1"/>
            </a:gradFill>
            <a:headEnd type="diamon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293360" y="361315"/>
            <a:ext cx="4001135" cy="55118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558030" y="451485"/>
            <a:ext cx="2690495" cy="393700"/>
          </a:xfrm>
          <a:prstGeom prst="rect">
            <a:avLst/>
          </a:prstGeom>
          <a:solidFill>
            <a:srgbClr val="5FD7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467985" y="437515"/>
            <a:ext cx="426339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Hiệu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Q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uả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 B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ảo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M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ật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5282565" y="1359535"/>
            <a:ext cx="0" cy="5676265"/>
          </a:xfrm>
          <a:prstGeom prst="line">
            <a:avLst/>
          </a:prstGeom>
          <a:ln w="63500">
            <a:gradFill>
              <a:gsLst>
                <a:gs pos="0">
                  <a:srgbClr val="60E0E5"/>
                </a:gs>
                <a:gs pos="100000">
                  <a:srgbClr val="4E3FE6"/>
                </a:gs>
              </a:gsLst>
              <a:lin ang="16200000" scaled="1"/>
            </a:gradFill>
            <a:headEnd type="diamon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543810" y="3636645"/>
            <a:ext cx="3277235" cy="5149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671830" y="3737293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cloud.py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80285" y="1739265"/>
            <a:ext cx="3540760" cy="51498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1" name="Picture 10" descr="Asse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494" y="1570355"/>
            <a:ext cx="721360" cy="853440"/>
          </a:xfrm>
          <a:prstGeom prst="rect">
            <a:avLst/>
          </a:prstGeom>
        </p:spPr>
      </p:pic>
      <p:sp>
        <p:nvSpPr>
          <p:cNvPr id="36" name="Text Box 35"/>
          <p:cNvSpPr txBox="1"/>
          <p:nvPr/>
        </p:nvSpPr>
        <p:spPr>
          <a:xfrm>
            <a:off x="671830" y="1839595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device.py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97760" y="5946140"/>
            <a:ext cx="4612640" cy="55118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998085" y="6045200"/>
            <a:ext cx="2607310" cy="387350"/>
          </a:xfrm>
          <a:prstGeom prst="rect">
            <a:avLst/>
          </a:prstGeom>
          <a:solidFill>
            <a:srgbClr val="546E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2662555" y="6022975"/>
            <a:ext cx="426339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r">
              <a:buClrTx/>
              <a:buSzTx/>
              <a:buFontTx/>
            </a:pP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M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ã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N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guồn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M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ô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P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hỏng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cxnSp>
        <p:nvCxnSpPr>
          <p:cNvPr id="60" name="Curved Connector 59"/>
          <p:cNvCxnSpPr>
            <a:endCxn id="41" idx="1"/>
          </p:cNvCxnSpPr>
          <p:nvPr/>
        </p:nvCxnSpPr>
        <p:spPr>
          <a:xfrm rot="16200000">
            <a:off x="7319645" y="1838960"/>
            <a:ext cx="872490" cy="850900"/>
          </a:xfrm>
          <a:prstGeom prst="curvedConnector2">
            <a:avLst/>
          </a:prstGeom>
          <a:ln w="63500">
            <a:gradFill>
              <a:gsLst>
                <a:gs pos="0">
                  <a:srgbClr val="60E0E5"/>
                </a:gs>
                <a:gs pos="100000">
                  <a:srgbClr val="4E3FE6"/>
                </a:gs>
              </a:gsLst>
              <a:lin ang="16200000" scaled="1"/>
            </a:gra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Curved Connector 60"/>
          <p:cNvCxnSpPr/>
          <p:nvPr/>
        </p:nvCxnSpPr>
        <p:spPr>
          <a:xfrm rot="5400000" flipV="1">
            <a:off x="7319645" y="4162425"/>
            <a:ext cx="872490" cy="850900"/>
          </a:xfrm>
          <a:prstGeom prst="curvedConnector2">
            <a:avLst/>
          </a:prstGeom>
          <a:ln w="63500">
            <a:gradFill>
              <a:gsLst>
                <a:gs pos="0">
                  <a:srgbClr val="60E0E5"/>
                </a:gs>
                <a:gs pos="100000">
                  <a:srgbClr val="4E3FE6"/>
                </a:gs>
              </a:gsLst>
              <a:lin ang="16200000" scaled="1"/>
            </a:gra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35" idx="1"/>
          </p:cNvCxnSpPr>
          <p:nvPr/>
        </p:nvCxnSpPr>
        <p:spPr>
          <a:xfrm flipH="1">
            <a:off x="7501890" y="3429635"/>
            <a:ext cx="1061720" cy="0"/>
          </a:xfrm>
          <a:prstGeom prst="line">
            <a:avLst/>
          </a:prstGeom>
          <a:ln w="63500">
            <a:gradFill>
              <a:gsLst>
                <a:gs pos="0">
                  <a:srgbClr val="60E0E5"/>
                </a:gs>
                <a:gs pos="100000">
                  <a:srgbClr val="4E3FE6"/>
                </a:gs>
              </a:gsLst>
              <a:lin ang="0" scaled="0"/>
            </a:gra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Block Arc 11"/>
          <p:cNvSpPr/>
          <p:nvPr/>
        </p:nvSpPr>
        <p:spPr>
          <a:xfrm rot="5400000">
            <a:off x="4928870" y="1988820"/>
            <a:ext cx="2880995" cy="2880995"/>
          </a:xfrm>
          <a:prstGeom prst="blockArc">
            <a:avLst>
              <a:gd name="adj1" fmla="val 10800000"/>
              <a:gd name="adj2" fmla="val 93048"/>
              <a:gd name="adj3" fmla="val 17830"/>
            </a:avLst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 descr="Asset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226" y="3505835"/>
            <a:ext cx="429895" cy="775970"/>
          </a:xfrm>
          <a:prstGeom prst="rect">
            <a:avLst/>
          </a:prstGeom>
        </p:spPr>
      </p:pic>
      <p:sp>
        <p:nvSpPr>
          <p:cNvPr id="63" name="Text Box 62"/>
          <p:cNvSpPr txBox="1"/>
          <p:nvPr/>
        </p:nvSpPr>
        <p:spPr>
          <a:xfrm>
            <a:off x="154940" y="149225"/>
            <a:ext cx="56661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05 | 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Kết quả chính</a:t>
            </a:r>
            <a:endParaRPr lang="en-US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Sản phẩm kỹ thuật và Bảo mật dữ liệu</a:t>
            </a:r>
            <a:endParaRPr lang="vi-VN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-317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6617970" y="5721350"/>
            <a:ext cx="2651760" cy="640080"/>
          </a:xfrm>
          <a:prstGeom prst="line">
            <a:avLst/>
          </a:prstGeom>
          <a:ln w="63500">
            <a:gradFill>
              <a:gsLst>
                <a:gs pos="0">
                  <a:srgbClr val="60E0E5"/>
                </a:gs>
                <a:gs pos="100000">
                  <a:srgbClr val="4E3FE6"/>
                </a:gs>
              </a:gsLst>
              <a:lin ang="2940000" scaled="1"/>
            </a:gradFill>
            <a:headEnd type="diamond"/>
            <a:tailEnd type="diamon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922905" y="5721350"/>
            <a:ext cx="2651760" cy="640080"/>
          </a:xfrm>
          <a:prstGeom prst="line">
            <a:avLst/>
          </a:prstGeom>
          <a:ln w="63500">
            <a:gradFill>
              <a:gsLst>
                <a:gs pos="0">
                  <a:srgbClr val="60E0E5"/>
                </a:gs>
                <a:gs pos="100000">
                  <a:srgbClr val="4E3FE6"/>
                </a:gs>
              </a:gsLst>
              <a:lin ang="5520000" scaled="1"/>
            </a:gradFill>
            <a:headEnd type="diamond"/>
            <a:tailEnd type="diamon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Text Box 62"/>
          <p:cNvSpPr txBox="1"/>
          <p:nvPr/>
        </p:nvSpPr>
        <p:spPr>
          <a:xfrm>
            <a:off x="154940" y="149225"/>
            <a:ext cx="56661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</a:t>
            </a:r>
            <a:r>
              <a:rPr lang="en-US" altLang="vi-VN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6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| 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Kết quả chính</a:t>
            </a:r>
            <a:endParaRPr lang="en-US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Kiểm soát truy cập và Nhật k</a:t>
            </a:r>
            <a:r>
              <a:rPr lang="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ý</a:t>
            </a:r>
            <a:endParaRPr lang="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4715195" y="5159375"/>
            <a:ext cx="2761609" cy="2628893"/>
          </a:xfrm>
          <a:custGeom>
            <a:avLst/>
            <a:gdLst>
              <a:gd name="hf" fmla="val 105146"/>
              <a:gd name="vf" fmla="val 110557"/>
              <a:gd name="swd2" fmla="*/ wd2 hf 100000"/>
              <a:gd name="shd2" fmla="*/ hd2 vf 100000"/>
              <a:gd name="svc" fmla="*/ vc vf 100000"/>
              <a:gd name="dx1" fmla="cos swd2 1080000"/>
              <a:gd name="dx2" fmla="cos swd2 18360000"/>
              <a:gd name="dy1" fmla="sin shd2 1080000"/>
              <a:gd name="dy2" fmla="sin shd2 18360000"/>
              <a:gd name="x1" fmla="+- hc 0 dx1"/>
              <a:gd name="x2" fmla="+- hc 0 dx2"/>
              <a:gd name="x3" fmla="+- hc dx2 0"/>
              <a:gd name="x4" fmla="+- hc dx1 0"/>
              <a:gd name="y1" fmla="+- svc 0 dy1"/>
              <a:gd name="y2" fmla="+- svc 0 dy2"/>
              <a:gd name="it" fmla="*/ y1 dx2 dx1"/>
            </a:gdLst>
            <a:ahLst/>
            <a:cxnLst>
              <a:cxn ang="3cd4">
                <a:pos x="hc" y="t"/>
              </a:cxn>
              <a:cxn ang="cd2">
                <a:pos x="x1" y="y1"/>
              </a:cxn>
              <a:cxn ang="cd4">
                <a:pos x="x2" y="y2"/>
              </a:cxn>
              <a:cxn ang="cd4">
                <a:pos x="hc" y="b"/>
              </a:cxn>
              <a:cxn ang="cd4">
                <a:pos x="x3" y="y2"/>
              </a:cxn>
              <a:cxn ang="0">
                <a:pos x="x4" y="y1"/>
              </a:cxn>
            </a:cxnLst>
            <a:rect l="l" t="t" r="r" b="b"/>
            <a:pathLst>
              <a:path w="4349" h="4140">
                <a:moveTo>
                  <a:pt x="2175" y="928"/>
                </a:moveTo>
                <a:lnTo>
                  <a:pt x="975" y="1801"/>
                </a:lnTo>
                <a:lnTo>
                  <a:pt x="1434" y="3213"/>
                </a:lnTo>
                <a:lnTo>
                  <a:pt x="2917" y="3213"/>
                </a:lnTo>
                <a:lnTo>
                  <a:pt x="3375" y="1801"/>
                </a:lnTo>
                <a:lnTo>
                  <a:pt x="2175" y="928"/>
                </a:lnTo>
                <a:close/>
                <a:moveTo>
                  <a:pt x="2174" y="0"/>
                </a:moveTo>
                <a:lnTo>
                  <a:pt x="4349" y="1581"/>
                </a:lnTo>
                <a:lnTo>
                  <a:pt x="3518" y="4140"/>
                </a:lnTo>
                <a:lnTo>
                  <a:pt x="831" y="4140"/>
                </a:lnTo>
                <a:lnTo>
                  <a:pt x="0" y="1581"/>
                </a:lnTo>
                <a:lnTo>
                  <a:pt x="2174" y="0"/>
                </a:lnTo>
                <a:close/>
              </a:path>
            </a:pathLst>
          </a:custGeom>
          <a:gradFill>
            <a:gsLst>
              <a:gs pos="0">
                <a:srgbClr val="60E0E5">
                  <a:alpha val="100000"/>
                </a:srgbClr>
              </a:gs>
              <a:gs pos="100000">
                <a:srgbClr val="4E3EE6"/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6089650" y="4516120"/>
            <a:ext cx="0" cy="1887220"/>
          </a:xfrm>
          <a:prstGeom prst="line">
            <a:avLst/>
          </a:prstGeom>
          <a:ln w="63500">
            <a:gradFill>
              <a:gsLst>
                <a:gs pos="0">
                  <a:srgbClr val="60E0E5"/>
                </a:gs>
                <a:gs pos="100000">
                  <a:srgbClr val="4E3FE6"/>
                </a:gs>
              </a:gsLst>
              <a:lin ang="16200000" scaled="1"/>
            </a:gradFill>
            <a:headEnd type="diamond"/>
            <a:tailEnd type="diamon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31495" y="4686935"/>
            <a:ext cx="4133215" cy="83185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87655" y="4766310"/>
            <a:ext cx="2447925" cy="356235"/>
          </a:xfrm>
          <a:prstGeom prst="rect">
            <a:avLst/>
          </a:prstGeom>
          <a:solidFill>
            <a:srgbClr val="536D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559435" y="4754880"/>
            <a:ext cx="4156075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Kiểm Soát Truy Cập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(RBAC)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28560" y="4686935"/>
            <a:ext cx="4133215" cy="83185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9489440" y="4773930"/>
            <a:ext cx="2447925" cy="356235"/>
          </a:xfrm>
          <a:prstGeom prst="rect">
            <a:avLst/>
          </a:prstGeom>
          <a:solidFill>
            <a:srgbClr val="5FD7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7848600" y="4754880"/>
            <a:ext cx="3536315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Nhật K</a:t>
            </a:r>
            <a:r>
              <a:rPr lang="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ý 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G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iám Sát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(Audit Log)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21480" y="3835400"/>
            <a:ext cx="3749040" cy="45720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3867785" y="3858895"/>
            <a:ext cx="445770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Checklist Bảo Mật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61840" y="727710"/>
            <a:ext cx="3068320" cy="2533015"/>
          </a:xfrm>
          <a:prstGeom prst="roundRect">
            <a:avLst>
              <a:gd name="adj" fmla="val 74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5" name="Picture 24" descr="ab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1860" y="1170305"/>
            <a:ext cx="2748280" cy="1647825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sp>
        <p:nvSpPr>
          <p:cNvPr id="26" name="Text Box 25"/>
          <p:cNvSpPr txBox="1"/>
          <p:nvPr/>
        </p:nvSpPr>
        <p:spPr>
          <a:xfrm>
            <a:off x="5762625" y="2772410"/>
            <a:ext cx="667385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vi-VN" altLang="en-US" sz="2000" spc="300">
                <a:solidFill>
                  <a:schemeClr val="tx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...</a:t>
            </a:r>
            <a:endParaRPr lang="vi-VN" altLang="en-US" sz="2000" spc="300">
              <a:solidFill>
                <a:schemeClr val="tx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5762625" y="681355"/>
            <a:ext cx="667385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vi-VN" altLang="en-US" sz="2000" spc="300">
                <a:solidFill>
                  <a:schemeClr val="tx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...</a:t>
            </a:r>
            <a:endParaRPr lang="vi-VN" altLang="en-US" sz="2000" spc="300">
              <a:solidFill>
                <a:schemeClr val="tx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cxnSp>
        <p:nvCxnSpPr>
          <p:cNvPr id="32" name="Straight Connector 31"/>
          <p:cNvCxnSpPr>
            <a:stCxn id="27" idx="2"/>
          </p:cNvCxnSpPr>
          <p:nvPr/>
        </p:nvCxnSpPr>
        <p:spPr>
          <a:xfrm>
            <a:off x="6096000" y="3260725"/>
            <a:ext cx="0" cy="402590"/>
          </a:xfrm>
          <a:prstGeom prst="line">
            <a:avLst/>
          </a:prstGeom>
          <a:ln w="63500" cap="rnd">
            <a:solidFill>
              <a:schemeClr val="bg1"/>
            </a:soli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1063943" y="968375"/>
            <a:ext cx="3068320" cy="2578735"/>
            <a:chOff x="7384" y="1273"/>
            <a:chExt cx="4832" cy="4061"/>
          </a:xfrm>
        </p:grpSpPr>
        <p:sp>
          <p:nvSpPr>
            <p:cNvPr id="34" name="Rounded Rectangle 33"/>
            <p:cNvSpPr/>
            <p:nvPr/>
          </p:nvSpPr>
          <p:spPr>
            <a:xfrm>
              <a:off x="7384" y="1346"/>
              <a:ext cx="4832" cy="3989"/>
            </a:xfrm>
            <a:prstGeom prst="roundRect">
              <a:avLst>
                <a:gd name="adj" fmla="val 74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5" name="Text Box 34"/>
            <p:cNvSpPr txBox="1"/>
            <p:nvPr/>
          </p:nvSpPr>
          <p:spPr>
            <a:xfrm>
              <a:off x="9275" y="4566"/>
              <a:ext cx="1051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vi-VN" altLang="en-US" sz="2000" spc="300">
                  <a:solidFill>
                    <a:schemeClr val="tx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...</a:t>
              </a:r>
              <a:endParaRPr lang="vi-VN" altLang="en-US" sz="2000" spc="300">
                <a:solidFill>
                  <a:schemeClr val="tx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  <p:sp>
          <p:nvSpPr>
            <p:cNvPr id="36" name="Text Box 35"/>
            <p:cNvSpPr txBox="1"/>
            <p:nvPr/>
          </p:nvSpPr>
          <p:spPr>
            <a:xfrm>
              <a:off x="9275" y="1273"/>
              <a:ext cx="1051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vi-VN" altLang="en-US" sz="2000" spc="300">
                  <a:solidFill>
                    <a:schemeClr val="tx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...</a:t>
              </a:r>
              <a:endParaRPr lang="vi-VN" altLang="en-US" sz="2000" spc="300">
                <a:solidFill>
                  <a:schemeClr val="tx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9" y="2091"/>
              <a:ext cx="4322" cy="2500"/>
            </a:xfrm>
            <a:prstGeom prst="rect">
              <a:avLst/>
            </a:prstGeom>
          </p:spPr>
        </p:pic>
      </p:grpSp>
      <p:grpSp>
        <p:nvGrpSpPr>
          <p:cNvPr id="43" name="Group 42"/>
          <p:cNvGrpSpPr/>
          <p:nvPr/>
        </p:nvGrpSpPr>
        <p:grpSpPr>
          <a:xfrm>
            <a:off x="8061008" y="968375"/>
            <a:ext cx="3068320" cy="2578735"/>
            <a:chOff x="9384" y="2627"/>
            <a:chExt cx="4832" cy="4061"/>
          </a:xfrm>
        </p:grpSpPr>
        <p:sp>
          <p:nvSpPr>
            <p:cNvPr id="40" name="Rounded Rectangle 39"/>
            <p:cNvSpPr/>
            <p:nvPr/>
          </p:nvSpPr>
          <p:spPr>
            <a:xfrm>
              <a:off x="9384" y="2700"/>
              <a:ext cx="4832" cy="3989"/>
            </a:xfrm>
            <a:prstGeom prst="roundRect">
              <a:avLst>
                <a:gd name="adj" fmla="val 74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1" name="Text Box 40"/>
            <p:cNvSpPr txBox="1"/>
            <p:nvPr/>
          </p:nvSpPr>
          <p:spPr>
            <a:xfrm>
              <a:off x="11275" y="5920"/>
              <a:ext cx="1051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vi-VN" altLang="en-US" sz="2000" spc="300">
                  <a:solidFill>
                    <a:schemeClr val="tx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...</a:t>
              </a:r>
              <a:endParaRPr lang="vi-VN" altLang="en-US" sz="2000" spc="300">
                <a:solidFill>
                  <a:schemeClr val="tx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1275" y="2627"/>
              <a:ext cx="1051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vi-VN" altLang="en-US" sz="2000" spc="300">
                  <a:solidFill>
                    <a:schemeClr val="tx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...</a:t>
              </a:r>
              <a:endParaRPr lang="vi-VN" altLang="en-US" sz="2000" spc="300">
                <a:solidFill>
                  <a:schemeClr val="tx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"/>
            <a:srcRect r="13450"/>
            <a:stretch>
              <a:fillRect/>
            </a:stretch>
          </p:blipFill>
          <p:spPr>
            <a:xfrm>
              <a:off x="9636" y="3370"/>
              <a:ext cx="4328" cy="2649"/>
            </a:xfrm>
            <a:prstGeom prst="rect">
              <a:avLst/>
            </a:prstGeom>
          </p:spPr>
        </p:pic>
      </p:grpSp>
      <p:cxnSp>
        <p:nvCxnSpPr>
          <p:cNvPr id="45" name="Straight Connector 44"/>
          <p:cNvCxnSpPr/>
          <p:nvPr/>
        </p:nvCxnSpPr>
        <p:spPr>
          <a:xfrm>
            <a:off x="2598103" y="3547745"/>
            <a:ext cx="0" cy="957580"/>
          </a:xfrm>
          <a:prstGeom prst="line">
            <a:avLst/>
          </a:prstGeom>
          <a:ln w="63500" cap="rnd">
            <a:solidFill>
              <a:schemeClr val="bg1"/>
            </a:soli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595168" y="3537585"/>
            <a:ext cx="0" cy="957580"/>
          </a:xfrm>
          <a:prstGeom prst="line">
            <a:avLst/>
          </a:prstGeom>
          <a:ln w="63500" cap="rnd">
            <a:solidFill>
              <a:schemeClr val="bg1"/>
            </a:soli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68065"/>
            <a:ext cx="10969200" cy="705600"/>
          </a:xfrm>
        </p:spPr>
        <p:txBody>
          <a:bodyPr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 flipH="1" flipV="1">
            <a:off x="0" y="-317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791210" y="5516245"/>
            <a:ext cx="2962910" cy="541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u tiên 1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Bảo vệ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đư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ờng truyền Internet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497580" y="6136005"/>
            <a:ext cx="1997710" cy="608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u tiên 2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Mã hóa chặng cuối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238750" y="5516245"/>
            <a:ext cx="2282825" cy="546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u tiên 3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Kiểm soát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ịnh danh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265035" y="6177280"/>
            <a:ext cx="1800225" cy="5670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u tiên 4</a:t>
            </a:r>
            <a:endParaRPr lang="en-US" altLang="en-US" sz="1500">
              <a:solidFill>
                <a:srgbClr val="463794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An toàn l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u trữ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808720" y="5516245"/>
            <a:ext cx="2953385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rgbClr val="463794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u tiên 5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Xác thực tính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ơi mới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03" name="Text Box 102"/>
          <p:cNvSpPr txBox="1"/>
          <p:nvPr/>
        </p:nvSpPr>
        <p:spPr>
          <a:xfrm>
            <a:off x="154940" y="149225"/>
            <a:ext cx="40068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</a:t>
            </a:r>
            <a:r>
              <a:rPr lang="en-US" altLang="vi-VN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7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| 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Phân tích rủi ro và Biện pháp phòng chống</a:t>
            </a:r>
            <a:endParaRPr lang="en-US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5760" y="831215"/>
            <a:ext cx="3657600" cy="2505710"/>
          </a:xfrm>
          <a:prstGeom prst="roundRect">
            <a:avLst>
              <a:gd name="adj" fmla="val 5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4" name="Content Placeholder 2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872" t="1630" r="1014" b="1037"/>
          <a:stretch>
            <a:fillRect/>
          </a:stretch>
        </p:blipFill>
        <p:spPr>
          <a:xfrm>
            <a:off x="482283" y="955040"/>
            <a:ext cx="3424555" cy="1860550"/>
          </a:xfrm>
          <a:prstGeom prst="rect">
            <a:avLst/>
          </a:prstGeom>
        </p:spPr>
      </p:pic>
      <p:sp>
        <p:nvSpPr>
          <p:cNvPr id="36" name="Text Box 35"/>
          <p:cNvSpPr txBox="1"/>
          <p:nvPr/>
        </p:nvSpPr>
        <p:spPr>
          <a:xfrm>
            <a:off x="713105" y="2920365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tx1">
                    <a:alpha val="65000"/>
                  </a:schemeClr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Tài sản và dữ liệu cần bảo vệ</a:t>
            </a:r>
            <a:endParaRPr lang="en-US" altLang="en-US" sz="1500">
              <a:solidFill>
                <a:schemeClr val="tx1">
                  <a:alpha val="65000"/>
                </a:schemeClr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169275" y="831215"/>
            <a:ext cx="3657600" cy="2505710"/>
          </a:xfrm>
          <a:prstGeom prst="roundRect">
            <a:avLst>
              <a:gd name="adj" fmla="val 5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8516620" y="2920365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tx1">
                    <a:alpha val="65000"/>
                  </a:schemeClr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Ma trận rủi ro</a:t>
            </a:r>
            <a:endParaRPr lang="en-US" altLang="en-US" sz="1500">
              <a:solidFill>
                <a:schemeClr val="tx1">
                  <a:alpha val="65000"/>
                </a:schemeClr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rcRect l="1004" t="2654" r="1857" b="2437"/>
          <a:stretch>
            <a:fillRect/>
          </a:stretch>
        </p:blipFill>
        <p:spPr>
          <a:xfrm>
            <a:off x="8285480" y="1109345"/>
            <a:ext cx="3425190" cy="154432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267200" y="445135"/>
            <a:ext cx="3657600" cy="2505710"/>
          </a:xfrm>
          <a:prstGeom prst="roundRect">
            <a:avLst>
              <a:gd name="adj" fmla="val 5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Text Box 39"/>
          <p:cNvSpPr txBox="1"/>
          <p:nvPr/>
        </p:nvSpPr>
        <p:spPr>
          <a:xfrm>
            <a:off x="4614545" y="2534285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tx1">
                    <a:alpha val="65000"/>
                  </a:schemeClr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Mối </a:t>
            </a:r>
            <a:r>
              <a:rPr lang="" altLang="en-US" sz="1500">
                <a:solidFill>
                  <a:schemeClr val="tx1">
                    <a:alpha val="65000"/>
                  </a:schemeClr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500">
                <a:solidFill>
                  <a:schemeClr val="tx1">
                    <a:alpha val="65000"/>
                  </a:schemeClr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e dọa và lỗ hổng</a:t>
            </a:r>
            <a:endParaRPr lang="en-US" altLang="en-US" sz="1500">
              <a:solidFill>
                <a:schemeClr val="tx1">
                  <a:alpha val="65000"/>
                </a:schemeClr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rcRect l="1310" t="2206" r="1260" b="3676"/>
          <a:stretch>
            <a:fillRect/>
          </a:stretch>
        </p:blipFill>
        <p:spPr>
          <a:xfrm>
            <a:off x="4383723" y="683260"/>
            <a:ext cx="3424555" cy="163195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210685" y="3796030"/>
            <a:ext cx="3770630" cy="55435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6407150" y="3899535"/>
            <a:ext cx="2155825" cy="358140"/>
          </a:xfrm>
          <a:prstGeom prst="rect">
            <a:avLst/>
          </a:prstGeom>
          <a:solidFill>
            <a:srgbClr val="578D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4067810" y="3867785"/>
            <a:ext cx="405638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Ph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ân Tích Rủi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Ro</a:t>
            </a:r>
            <a:endParaRPr lang="vi-VN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cxnSp>
        <p:nvCxnSpPr>
          <p:cNvPr id="51" name="Straight Connector 50"/>
          <p:cNvCxnSpPr>
            <a:stCxn id="39" idx="2"/>
          </p:cNvCxnSpPr>
          <p:nvPr/>
        </p:nvCxnSpPr>
        <p:spPr>
          <a:xfrm>
            <a:off x="6096000" y="2950845"/>
            <a:ext cx="0" cy="729615"/>
          </a:xfrm>
          <a:prstGeom prst="line">
            <a:avLst/>
          </a:prstGeom>
          <a:ln w="63500" cap="rnd">
            <a:solidFill>
              <a:schemeClr val="bg1"/>
            </a:solidFill>
            <a:miter lim="800000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6360795" y="3195320"/>
            <a:ext cx="1809750" cy="485140"/>
          </a:xfrm>
          <a:prstGeom prst="line">
            <a:avLst/>
          </a:prstGeom>
          <a:ln w="63500" cap="rnd"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 flipV="1">
            <a:off x="4021455" y="3195320"/>
            <a:ext cx="1809750" cy="485140"/>
          </a:xfrm>
          <a:prstGeom prst="line">
            <a:avLst/>
          </a:prstGeom>
          <a:ln w="63500" cap="rnd"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838960" y="4765675"/>
            <a:ext cx="8228330" cy="55435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996315" y="4869180"/>
            <a:ext cx="3260090" cy="358140"/>
          </a:xfrm>
          <a:prstGeom prst="rect">
            <a:avLst/>
          </a:prstGeom>
          <a:solidFill>
            <a:srgbClr val="5FD6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Text Box 60"/>
          <p:cNvSpPr txBox="1"/>
          <p:nvPr/>
        </p:nvSpPr>
        <p:spPr>
          <a:xfrm>
            <a:off x="1915478" y="4837430"/>
            <a:ext cx="8361045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Biện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P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háp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P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hòng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C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hống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V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à </a:t>
            </a:r>
            <a:r>
              <a:rPr lang="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Ư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u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iên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X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ử l</a:t>
            </a:r>
            <a:r>
              <a:rPr lang="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ý</a:t>
            </a:r>
            <a:endParaRPr lang="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cxnSp>
        <p:nvCxnSpPr>
          <p:cNvPr id="63" name="Curved Connector 62"/>
          <p:cNvCxnSpPr/>
          <p:nvPr/>
        </p:nvCxnSpPr>
        <p:spPr>
          <a:xfrm>
            <a:off x="-253365" y="5068570"/>
            <a:ext cx="1842770" cy="629285"/>
          </a:xfrm>
          <a:prstGeom prst="curvedConnector3">
            <a:avLst>
              <a:gd name="adj1" fmla="val 50034"/>
            </a:avLst>
          </a:prstGeom>
          <a:ln w="25400" cap="rnd" cmpd="sng" algn="ctr">
            <a:solidFill>
              <a:schemeClr val="bg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Curved Connector 65"/>
          <p:cNvCxnSpPr>
            <a:stCxn id="17" idx="2"/>
          </p:cNvCxnSpPr>
          <p:nvPr/>
        </p:nvCxnSpPr>
        <p:spPr>
          <a:xfrm rot="5400000" flipV="1">
            <a:off x="2847340" y="5481955"/>
            <a:ext cx="252095" cy="1401445"/>
          </a:xfrm>
          <a:prstGeom prst="curvedConnector2">
            <a:avLst/>
          </a:prstGeom>
          <a:ln w="25400" cap="rnd" cmpd="sng" algn="ctr">
            <a:solidFill>
              <a:schemeClr val="bg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Curved Connector 66"/>
          <p:cNvCxnSpPr>
            <a:stCxn id="13" idx="0"/>
          </p:cNvCxnSpPr>
          <p:nvPr/>
        </p:nvCxnSpPr>
        <p:spPr>
          <a:xfrm rot="16200000">
            <a:off x="4832350" y="5347970"/>
            <a:ext cx="451485" cy="1123950"/>
          </a:xfrm>
          <a:prstGeom prst="curvedConnector2">
            <a:avLst/>
          </a:prstGeom>
          <a:ln w="25400" cap="rnd" cmpd="sng" algn="ctr">
            <a:solidFill>
              <a:schemeClr val="bg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12" idx="2"/>
          </p:cNvCxnSpPr>
          <p:nvPr/>
        </p:nvCxnSpPr>
        <p:spPr>
          <a:xfrm rot="5400000" flipV="1">
            <a:off x="6721475" y="5721350"/>
            <a:ext cx="284480" cy="967105"/>
          </a:xfrm>
          <a:prstGeom prst="curvedConnector2">
            <a:avLst/>
          </a:prstGeom>
          <a:ln w="25400" cap="rnd" cmpd="sng" algn="ctr">
            <a:solidFill>
              <a:schemeClr val="bg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Curved Connector 68"/>
          <p:cNvCxnSpPr>
            <a:stCxn id="11" idx="0"/>
          </p:cNvCxnSpPr>
          <p:nvPr/>
        </p:nvCxnSpPr>
        <p:spPr>
          <a:xfrm rot="16200000">
            <a:off x="8576945" y="5273040"/>
            <a:ext cx="492760" cy="1315720"/>
          </a:xfrm>
          <a:prstGeom prst="curvedConnector2">
            <a:avLst/>
          </a:prstGeom>
          <a:ln w="25400" cap="rnd" cmpd="sng" algn="ctr">
            <a:solidFill>
              <a:schemeClr val="bg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Curved Connector 69"/>
          <p:cNvCxnSpPr/>
          <p:nvPr/>
        </p:nvCxnSpPr>
        <p:spPr>
          <a:xfrm flipV="1">
            <a:off x="10887710" y="5027295"/>
            <a:ext cx="1691640" cy="648335"/>
          </a:xfrm>
          <a:prstGeom prst="curvedConnector3">
            <a:avLst>
              <a:gd name="adj1" fmla="val 50038"/>
            </a:avLst>
          </a:prstGeom>
          <a:ln w="25400" cap="rnd" cmpd="sng" algn="ctr">
            <a:solidFill>
              <a:schemeClr val="bg1"/>
            </a:solidFill>
            <a:prstDash val="dash"/>
            <a:miter lim="800000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-317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3" name="Text Box 102"/>
          <p:cNvSpPr txBox="1"/>
          <p:nvPr/>
        </p:nvSpPr>
        <p:spPr>
          <a:xfrm>
            <a:off x="154940" y="149225"/>
            <a:ext cx="40068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</a:t>
            </a:r>
            <a:r>
              <a:rPr lang="en-US" altLang="vi-VN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7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| </a:t>
            </a:r>
            <a:r>
              <a:rPr lang="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ánh giá, Hạn chế và H</a:t>
            </a:r>
            <a:r>
              <a:rPr lang="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ớng phát triển</a:t>
            </a:r>
            <a:endParaRPr lang="en-US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80305" y="2990850"/>
            <a:ext cx="1861185" cy="33845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451475" y="3424555"/>
            <a:ext cx="1819275" cy="42672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645660" y="3115310"/>
            <a:ext cx="2382520" cy="304800"/>
          </a:xfrm>
          <a:prstGeom prst="rect">
            <a:avLst/>
          </a:prstGeom>
          <a:solidFill>
            <a:srgbClr val="5FD9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169535" y="3411220"/>
            <a:ext cx="2583180" cy="304800"/>
          </a:xfrm>
          <a:prstGeom prst="rect">
            <a:avLst/>
          </a:prstGeom>
          <a:solidFill>
            <a:srgbClr val="5475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5057775" y="3075940"/>
            <a:ext cx="2076450" cy="706755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p>
            <a:pPr lvl="0" algn="ctr">
              <a:buClrTx/>
              <a:buSzTx/>
              <a:buFontTx/>
            </a:pPr>
            <a:r>
              <a:rPr lang="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Đ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ánh Giá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Hiệu Quả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14680" y="3110865"/>
            <a:ext cx="2962910" cy="3136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Phòng thủ tuyệt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ối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614410" y="3406775"/>
            <a:ext cx="2962910" cy="3136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uân thủ HIPAA 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và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FDA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cxnSp>
        <p:nvCxnSpPr>
          <p:cNvPr id="34" name="Straight Arrow Connector 33"/>
          <p:cNvCxnSpPr>
            <a:endCxn id="19" idx="3"/>
          </p:cNvCxnSpPr>
          <p:nvPr/>
        </p:nvCxnSpPr>
        <p:spPr>
          <a:xfrm flipH="1">
            <a:off x="3577590" y="3267710"/>
            <a:ext cx="94869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0" idx="1"/>
          </p:cNvCxnSpPr>
          <p:nvPr/>
        </p:nvCxnSpPr>
        <p:spPr>
          <a:xfrm>
            <a:off x="7863205" y="3563620"/>
            <a:ext cx="75120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190875" y="4414520"/>
            <a:ext cx="5810250" cy="54864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682490" y="4495800"/>
            <a:ext cx="2089785" cy="381000"/>
          </a:xfrm>
          <a:prstGeom prst="rect">
            <a:avLst/>
          </a:prstGeom>
          <a:solidFill>
            <a:srgbClr val="60DA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3133090" y="4331970"/>
            <a:ext cx="5925820" cy="75438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</a:t>
            </a:r>
            <a:r>
              <a:rPr lang="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ư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ớng Phát Triển T</a:t>
            </a:r>
            <a:r>
              <a:rPr lang="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ư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ơng Lai</a:t>
            </a:r>
            <a:endParaRPr lang="vi-VN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23385" y="1885315"/>
            <a:ext cx="3745230" cy="54864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857625" y="1964690"/>
            <a:ext cx="2204085" cy="381000"/>
          </a:xfrm>
          <a:prstGeom prst="rect">
            <a:avLst/>
          </a:prstGeom>
          <a:solidFill>
            <a:srgbClr val="5AA8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4394835" y="1788160"/>
            <a:ext cx="3402330" cy="755650"/>
          </a:xfrm>
          <a:prstGeom prst="rect">
            <a:avLst/>
          </a:prstGeom>
          <a:noFill/>
          <a:effectLst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Hạn Chế Hiện Tại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259840" y="800100"/>
            <a:ext cx="296291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Môi tr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ờng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cụ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c 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bộ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7969250" y="800100"/>
            <a:ext cx="296291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Dữ liệu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giả 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lập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4614545" y="545465"/>
            <a:ext cx="2962910" cy="582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Quản l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ý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khóa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tập trung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934085" y="5578475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Triển khai phần cứng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45" name="Text Box 44"/>
          <p:cNvSpPr txBox="1"/>
          <p:nvPr/>
        </p:nvSpPr>
        <p:spPr>
          <a:xfrm>
            <a:off x="8295005" y="5578475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Trí tuệ nhân tạo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3387725" y="5893435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Tối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u mật mã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5841365" y="5893435"/>
            <a:ext cx="2962910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Bảo mật phần cứng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cxnSp>
        <p:nvCxnSpPr>
          <p:cNvPr id="51" name="Curved Connector 50"/>
          <p:cNvCxnSpPr>
            <a:stCxn id="23" idx="0"/>
            <a:endCxn id="21" idx="2"/>
          </p:cNvCxnSpPr>
          <p:nvPr/>
        </p:nvCxnSpPr>
        <p:spPr>
          <a:xfrm rot="16200000" flipV="1">
            <a:off x="4210050" y="-97155"/>
            <a:ext cx="416560" cy="3354705"/>
          </a:xfrm>
          <a:prstGeom prst="curvedConnector3">
            <a:avLst>
              <a:gd name="adj1" fmla="val 50076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3" idx="0"/>
            <a:endCxn id="43" idx="2"/>
          </p:cNvCxnSpPr>
          <p:nvPr/>
        </p:nvCxnSpPr>
        <p:spPr>
          <a:xfrm flipV="1">
            <a:off x="6096000" y="1127760"/>
            <a:ext cx="0" cy="6604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23" idx="0"/>
            <a:endCxn id="22" idx="2"/>
          </p:cNvCxnSpPr>
          <p:nvPr/>
        </p:nvCxnSpPr>
        <p:spPr>
          <a:xfrm rot="16200000">
            <a:off x="7564755" y="-97155"/>
            <a:ext cx="416560" cy="3354705"/>
          </a:xfrm>
          <a:prstGeom prst="curvedConnector3">
            <a:avLst>
              <a:gd name="adj1" fmla="val 50076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12" idx="2"/>
            <a:endCxn id="44" idx="0"/>
          </p:cNvCxnSpPr>
          <p:nvPr/>
        </p:nvCxnSpPr>
        <p:spPr>
          <a:xfrm rot="5400000">
            <a:off x="4010025" y="3491865"/>
            <a:ext cx="492125" cy="368046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Curved Connector 56"/>
          <p:cNvCxnSpPr>
            <a:stCxn id="12" idx="2"/>
            <a:endCxn id="46" idx="0"/>
          </p:cNvCxnSpPr>
          <p:nvPr/>
        </p:nvCxnSpPr>
        <p:spPr>
          <a:xfrm rot="5400000">
            <a:off x="5079365" y="4876165"/>
            <a:ext cx="807085" cy="122682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Curved Connector 58"/>
          <p:cNvCxnSpPr>
            <a:stCxn id="12" idx="2"/>
            <a:endCxn id="45" idx="0"/>
          </p:cNvCxnSpPr>
          <p:nvPr/>
        </p:nvCxnSpPr>
        <p:spPr>
          <a:xfrm rot="5400000" flipV="1">
            <a:off x="7690485" y="3491865"/>
            <a:ext cx="492125" cy="368046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Curved Connector 59"/>
          <p:cNvCxnSpPr>
            <a:stCxn id="12" idx="2"/>
            <a:endCxn id="47" idx="0"/>
          </p:cNvCxnSpPr>
          <p:nvPr/>
        </p:nvCxnSpPr>
        <p:spPr>
          <a:xfrm rot="5400000" flipV="1">
            <a:off x="6306185" y="4876165"/>
            <a:ext cx="807085" cy="122682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 flipH="1" flipV="1">
            <a:off x="0" y="-317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3" name="Text Box 102"/>
          <p:cNvSpPr txBox="1"/>
          <p:nvPr/>
        </p:nvSpPr>
        <p:spPr>
          <a:xfrm>
            <a:off x="154940" y="149225"/>
            <a:ext cx="400685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0</a:t>
            </a:r>
            <a:r>
              <a:rPr lang="en-US" altLang="vi-VN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7</a:t>
            </a:r>
            <a:r>
              <a:rPr lang="vi-VN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| </a:t>
            </a:r>
            <a:r>
              <a:rPr lang="en-US" altLang="en-US" sz="13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Kết luận</a:t>
            </a:r>
            <a:endParaRPr lang="en-US" altLang="en-US" sz="13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4" name="Right Triangle 3"/>
          <p:cNvSpPr/>
          <p:nvPr/>
        </p:nvSpPr>
        <p:spPr>
          <a:xfrm>
            <a:off x="6164580" y="2585720"/>
            <a:ext cx="944880" cy="94488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5082540" y="2987040"/>
            <a:ext cx="944880" cy="944880"/>
          </a:xfrm>
          <a:prstGeom prst="rtTriangle">
            <a:avLst/>
          </a:prstGeom>
          <a:solidFill>
            <a:srgbClr val="4E42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5400000">
            <a:off x="6164580" y="3662680"/>
            <a:ext cx="610235" cy="610235"/>
          </a:xfrm>
          <a:prstGeom prst="rtTriangle">
            <a:avLst/>
          </a:prstGeom>
          <a:solidFill>
            <a:srgbClr val="60DF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51180" y="2696845"/>
            <a:ext cx="2962910" cy="7232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Xây dựng thành công hệ thống mô phỏng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, t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hực thi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ầy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ủ 5 trụ cột bảo mật cốt l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õ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i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.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7905115" y="2068830"/>
            <a:ext cx="3829685" cy="8521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r">
              <a:buClrTx/>
              <a:buSzTx/>
              <a:buFontTx/>
            </a:pP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C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hặn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ứng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các hành vi xâm nhập trái phép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, k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hẳng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ịnh sự cấp thiết của việc dịch chuyển trạng thái bảo mật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.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601970" y="5719445"/>
            <a:ext cx="4937760" cy="56451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ClrTx/>
              <a:buSzTx/>
              <a:buFontTx/>
            </a:pPr>
            <a:r>
              <a:rPr lang="vi-VN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B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ớc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ầu tiệm cận </a:t>
            </a:r>
            <a:r>
              <a:rPr lang="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đư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ợc các yêu cầu an toàn kỹ thuật khắt khe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 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theo các chuẩn quốc tế</a:t>
            </a:r>
            <a:r>
              <a:rPr lang="vi-VN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.</a:t>
            </a:r>
            <a:endParaRPr lang="vi-VN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40930" y="1137285"/>
            <a:ext cx="4104640" cy="81280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922770" y="1223645"/>
            <a:ext cx="2875280" cy="355600"/>
          </a:xfrm>
          <a:prstGeom prst="rect">
            <a:avLst/>
          </a:prstGeom>
          <a:solidFill>
            <a:srgbClr val="4E42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7502525" y="1192530"/>
            <a:ext cx="4074795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Minh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C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hứng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iệu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Q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uả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P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hòng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hủ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85875" y="1697355"/>
            <a:ext cx="3390900" cy="776605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238375" y="1781175"/>
            <a:ext cx="2948940" cy="312420"/>
          </a:xfrm>
          <a:prstGeom prst="rect">
            <a:avLst/>
          </a:prstGeom>
          <a:solidFill>
            <a:srgbClr val="60DF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1486535" y="1733550"/>
            <a:ext cx="3134360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Hoàn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hành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  <a:p>
            <a:pPr lvl="0" algn="r">
              <a:buClrTx/>
              <a:buSzTx/>
              <a:buFontTx/>
            </a:pP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M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ục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iêu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D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ự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Á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n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cxnSp>
        <p:nvCxnSpPr>
          <p:cNvPr id="25" name="Elbow Connector 24"/>
          <p:cNvCxnSpPr/>
          <p:nvPr/>
        </p:nvCxnSpPr>
        <p:spPr>
          <a:xfrm rot="5400000">
            <a:off x="6294120" y="2072005"/>
            <a:ext cx="1280160" cy="487680"/>
          </a:xfrm>
          <a:prstGeom prst="bentConnector3">
            <a:avLst>
              <a:gd name="adj1" fmla="val 5005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5400000" flipV="1">
            <a:off x="4641850" y="2515235"/>
            <a:ext cx="1153160" cy="551180"/>
          </a:xfrm>
          <a:prstGeom prst="bentConnector3">
            <a:avLst>
              <a:gd name="adj1" fmla="val 50055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450715" y="5066665"/>
            <a:ext cx="5265420" cy="48006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94150" y="5158105"/>
            <a:ext cx="2003425" cy="335280"/>
          </a:xfrm>
          <a:prstGeom prst="rect">
            <a:avLst/>
          </a:prstGeom>
          <a:solidFill>
            <a:srgbClr val="4E42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455160" y="5100955"/>
            <a:ext cx="5034915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Giá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rị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V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à Tính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uân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hủ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  <p:cxnSp>
        <p:nvCxnSpPr>
          <p:cNvPr id="29" name="Elbow Connector 28"/>
          <p:cNvCxnSpPr/>
          <p:nvPr/>
        </p:nvCxnSpPr>
        <p:spPr>
          <a:xfrm rot="16200000" flipV="1">
            <a:off x="6203950" y="4377690"/>
            <a:ext cx="891540" cy="228600"/>
          </a:xfrm>
          <a:prstGeom prst="bentConnector3">
            <a:avLst>
              <a:gd name="adj1" fmla="val 49929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-317"/>
            <a:ext cx="12192000" cy="6858635"/>
          </a:xfrm>
          <a:prstGeom prst="rect">
            <a:avLst/>
          </a:prstGeom>
          <a:gradFill>
            <a:gsLst>
              <a:gs pos="0">
                <a:srgbClr val="60E0E5"/>
              </a:gs>
              <a:gs pos="100000">
                <a:srgbClr val="4E3EE6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938078" y="691833"/>
            <a:ext cx="2315845" cy="2315845"/>
          </a:xfrm>
          <a:prstGeom prst="roundRect">
            <a:avLst>
              <a:gd name="adj" fmla="val 12715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93653" y="847408"/>
            <a:ext cx="2004695" cy="200469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3964305" y="3232785"/>
            <a:ext cx="4639945" cy="523240"/>
            <a:chOff x="6243" y="4713"/>
            <a:chExt cx="7307" cy="824"/>
          </a:xfrm>
        </p:grpSpPr>
        <p:sp>
          <p:nvSpPr>
            <p:cNvPr id="8" name="Rectangle 7"/>
            <p:cNvSpPr/>
            <p:nvPr/>
          </p:nvSpPr>
          <p:spPr>
            <a:xfrm>
              <a:off x="6507" y="4713"/>
              <a:ext cx="6187" cy="82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340" y="4833"/>
              <a:ext cx="3211" cy="588"/>
            </a:xfrm>
            <a:prstGeom prst="rect">
              <a:avLst/>
            </a:prstGeom>
            <a:solidFill>
              <a:srgbClr val="578BE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6243" y="4813"/>
              <a:ext cx="6714" cy="62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Repository</a:t>
              </a: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 D</a:t>
              </a:r>
              <a:r>
                <a:rPr lang="en-US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ự </a:t>
              </a:r>
              <a:r>
                <a:rPr lang="vi-VN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Á</a:t>
              </a:r>
              <a:r>
                <a:rPr lang="en-US" altLang="en-US" sz="2000" spc="300">
                  <a:solidFill>
                    <a:schemeClr val="bg1"/>
                  </a:solidFill>
                  <a:uFillTx/>
                  <a:latin typeface="Dela Gothic One" panose="00000500000000000000" charset="-128"/>
                  <a:ea typeface="Dela Gothic One" panose="00000500000000000000" charset="-128"/>
                  <a:cs typeface="Cascadia Mono SemiBold" panose="020B0609020000020004" charset="0"/>
                  <a:sym typeface="+mn-ea"/>
                </a:rPr>
                <a:t>n</a:t>
              </a:r>
              <a:endPara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endParaRPr>
            </a:p>
          </p:txBody>
        </p:sp>
      </p:grpSp>
      <p:sp>
        <p:nvSpPr>
          <p:cNvPr id="37" name="Text Box 36"/>
          <p:cNvSpPr txBox="1"/>
          <p:nvPr/>
        </p:nvSpPr>
        <p:spPr>
          <a:xfrm>
            <a:off x="2203768" y="3933825"/>
            <a:ext cx="7784465" cy="313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https://github.com/LamQuocDuy/Bao-Mat-IoT-Trong-Y-Te-Thong-Minh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98145" y="6002338"/>
            <a:ext cx="1711960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OWASP ISVS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508500" y="6002338"/>
            <a:ext cx="2193290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Mbed TLS Library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185670" y="6002338"/>
            <a:ext cx="224726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RFC 2104 &amp; RFC 7519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692640" y="6002338"/>
            <a:ext cx="2050415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NIST SP 800-38D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777355" y="6002338"/>
            <a:ext cx="2839720" cy="368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Chuẩn HIPAA &amp; H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ư</a:t>
            </a:r>
            <a:r>
              <a:rPr lang="en-US" altLang="en-US" sz="1500">
                <a:solidFill>
                  <a:schemeClr val="bg1"/>
                </a:solidFill>
                <a:latin typeface="Inconsolata SemiCondensed Medium" panose="00000509000000000000" charset="0"/>
                <a:cs typeface="Inconsolata SemiCondensed Medium" panose="00000509000000000000" charset="0"/>
                <a:sym typeface="+mn-ea"/>
              </a:rPr>
              <a:t>ớng dẫn FDA</a:t>
            </a:r>
            <a:endParaRPr lang="en-US" altLang="en-US" sz="1500">
              <a:solidFill>
                <a:schemeClr val="bg1"/>
              </a:solidFill>
              <a:latin typeface="Inconsolata SemiCondensed Medium" panose="00000509000000000000" charset="0"/>
              <a:cs typeface="Inconsolata SemiCondensed Medium" panose="00000509000000000000" charset="0"/>
              <a:sym typeface="+mn-ea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64940" y="5046345"/>
            <a:ext cx="4263390" cy="523240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195320" y="5122545"/>
            <a:ext cx="2629535" cy="373380"/>
          </a:xfrm>
          <a:prstGeom prst="rect">
            <a:avLst/>
          </a:prstGeom>
          <a:solidFill>
            <a:srgbClr val="60DD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964305" y="5098415"/>
            <a:ext cx="4263390" cy="3987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ài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L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iệu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T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ham </a:t>
            </a:r>
            <a:r>
              <a:rPr lang="vi-VN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K</a:t>
            </a:r>
            <a:r>
              <a:rPr lang="en-US" altLang="en-US" sz="2000" spc="300">
                <a:solidFill>
                  <a:schemeClr val="bg1"/>
                </a:solidFill>
                <a:uFillTx/>
                <a:latin typeface="Dela Gothic One" panose="00000500000000000000" charset="-128"/>
                <a:ea typeface="Dela Gothic One" panose="00000500000000000000" charset="-128"/>
                <a:cs typeface="Cascadia Mono SemiBold" panose="020B0609020000020004" charset="0"/>
                <a:sym typeface="+mn-ea"/>
              </a:rPr>
              <a:t>hảo</a:t>
            </a:r>
            <a:endParaRPr lang="en-US" altLang="en-US" sz="2000" spc="300">
              <a:solidFill>
                <a:schemeClr val="bg1"/>
              </a:solidFill>
              <a:uFillTx/>
              <a:latin typeface="Dela Gothic One" panose="00000500000000000000" charset="-128"/>
              <a:ea typeface="Dela Gothic One" panose="00000500000000000000" charset="-128"/>
              <a:cs typeface="Cascadia Mono SemiBold" panose="020B06090200000200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5120,3320073]}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resource_record_key" val="{&quot;65&quot;:[20205081],&quot;70&quot;:[3325120,332007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2710</Words>
  <Application>WPS Presentation</Application>
  <PresentationFormat>Widescreen</PresentationFormat>
  <Paragraphs>235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Dela Gothic One</vt:lpstr>
      <vt:lpstr>Cascadia Mono SemiBold</vt:lpstr>
      <vt:lpstr>Inconsolata SemiCondensed Medium</vt:lpstr>
      <vt:lpstr>Microsoft YaHei</vt:lpstr>
      <vt:lpstr>Arial Unicode MS</vt:lpstr>
      <vt:lpstr>Calibri</vt:lpstr>
      <vt:lpstr>Google Sans Text</vt:lpstr>
      <vt:lpstr>Segoe Print</vt:lpstr>
      <vt:lpstr>Arial</vt:lpstr>
      <vt:lpstr>Google Sans Code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LQDuy</dc:creator>
  <cp:lastModifiedBy>D D</cp:lastModifiedBy>
  <cp:revision>25</cp:revision>
  <dcterms:created xsi:type="dcterms:W3CDTF">2026-07-23T10:50:00Z</dcterms:created>
  <dcterms:modified xsi:type="dcterms:W3CDTF">2026-07-24T19:35:28Z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9E6E41BC780D456FA305F4E6EE245C60_11</vt:lpwstr>
  </property>
</Properties>
</file>